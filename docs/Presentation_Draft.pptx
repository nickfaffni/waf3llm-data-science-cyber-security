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Presentation Slide Template (Academic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Project:</a:t>
            </a:r>
            <a:r>
              <a:rPr/>
              <a:t> Shifting Left: Structural Detection of Indirect Prompt Injections in Web Agents</a:t>
            </a:r>
            <a:br/>
            <a:r>
              <a:rPr b="1"/>
              <a:t>Course:</a:t>
            </a:r>
            <a:r>
              <a:rPr/>
              <a:t> Data Science for Cyber-Security 2026 (Group 3)</a:t>
            </a:r>
            <a:br/>
            <a:r>
              <a:rPr b="1"/>
              <a:t>Presenter:</a:t>
            </a:r>
            <a:r>
              <a:rPr/>
              <a:t> Nick Gaffni (nikitaa@post.bgu.ac.il)</a:t>
            </a:r>
            <a:br/>
            <a:r>
              <a:rPr b="1"/>
              <a:t>Guidelines Status:</a:t>
            </a:r>
            <a:r>
              <a:rPr/>
              <a:t> 25 Slides Total (at the 25-slide limit) | 100% English | No embedded video / audio / external links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📋 General Presentation Guidelines</a:t>
            </a:r>
          </a:p>
          <a:p>
            <a:pPr lvl="0" indent="-342900" marL="342900">
              <a:buAutoNum type="arabicPeriod"/>
            </a:pPr>
            <a:r>
              <a:rPr b="1"/>
              <a:t>PPTX File Submission:</a:t>
            </a:r>
            <a:r>
              <a:rPr/>
              <a:t> This outline must be compiled into a PowerPoint (.pptx) presentation. Ensure it is editable and stays under the </a:t>
            </a:r>
            <a:r>
              <a:rPr b="1"/>
              <a:t>15 MB size limit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No Rich Media:</a:t>
            </a:r>
            <a:r>
              <a:rPr/>
              <a:t> Do not embed videos, sound clips, or external links directly inside the slides (keep diagrams as clean, high-contrast images).</a:t>
            </a:r>
          </a:p>
          <a:p>
            <a:pPr lvl="0" indent="-342900" marL="342900">
              <a:buAutoNum type="arabicPeriod"/>
            </a:pPr>
            <a:r>
              <a:rPr b="1"/>
              <a:t>Presenter Photo:</a:t>
            </a:r>
            <a:r>
              <a:rPr/>
              <a:t> Slide 1 must contain a professional profile photograph of the presenter.</a:t>
            </a:r>
          </a:p>
          <a:p>
            <a:pPr lvl="0" indent="-342900" marL="342900">
              <a:buAutoNum type="arabicPeriod"/>
            </a:pPr>
            <a:r>
              <a:rPr b="1"/>
              <a:t>Lecture Concepts:</a:t>
            </a:r>
            <a:r>
              <a:rPr/>
              <a:t> Explicitly cite course definitions (such as </a:t>
            </a:r>
            <a:r>
              <a:rPr b="1"/>
              <a:t>Lecture 1: Feature Extraction Methodologies</a:t>
            </a:r>
            <a:r>
              <a:rPr/>
              <a:t> and </a:t>
            </a:r>
            <a:r>
              <a:rPr b="1"/>
              <a:t>Zero-Leakage Experimental split design</a:t>
            </a:r>
            <a:r>
              <a:rPr/>
              <a:t>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Title Slide (Cover Page)</a:t>
            </a:r>
          </a:p>
          <a:p>
            <a:pPr lvl="0"/>
            <a:r>
              <a:rPr b="1"/>
              <a:t>Slide Title:</a:t>
            </a:r>
            <a:r>
              <a:rPr/>
              <a:t> Shifting Left: Structural Detection of Indirect Prompt Injections in Web Agents</a:t>
            </a:r>
          </a:p>
          <a:p>
            <a:pPr lvl="0"/>
            <a:r>
              <a:rPr b="1"/>
              <a:t>Subtitle:</a:t>
            </a:r>
            <a:r>
              <a:rPr/>
              <a:t> Data Science for Cyber-Security 2026 (Group 3 Final Project)</a:t>
            </a:r>
          </a:p>
          <a:p>
            <a:pPr lvl="0"/>
            <a:r>
              <a:rPr b="1"/>
              <a:t>Presenter:</a:t>
            </a:r>
            <a:r>
              <a:rPr/>
              <a:t> Nick Gaffni</a:t>
            </a:r>
          </a:p>
          <a:p>
            <a:pPr lvl="0"/>
            <a:r>
              <a:rPr b="1"/>
              <a:t>Affiliation:</a:t>
            </a:r>
            <a:r>
              <a:rPr/>
              <a:t> Ben-Gurion University of the Negev</a:t>
            </a:r>
          </a:p>
          <a:p>
            <a:pPr lvl="0"/>
            <a:r>
              <a:rPr b="1"/>
              <a:t>Visual Assets:</a:t>
            </a:r>
          </a:p>
          <a:p>
            <a:pPr lvl="1"/>
            <a:r>
              <a:rPr/>
              <a:t>Professional profile photograph of Nick Gaffni (</a:t>
            </a:r>
            <a:r>
              <a:rPr>
                <a:latin typeface="Courier"/>
              </a:rPr>
              <a:t>[Presenter Photo: Nick Gaffni Profile Photo]</a:t>
            </a:r>
            <a:r>
              <a:rPr/>
              <a:t>).</a:t>
            </a:r>
          </a:p>
          <a:p>
            <a:pPr lvl="1"/>
            <a:r>
              <a:rPr/>
              <a:t>BGU University / Cyber-Security Department logos.</a:t>
            </a:r>
          </a:p>
          <a:p>
            <a:pPr lvl="1"/>
            <a:r>
              <a:rPr/>
              <a:t>Sleek dark-mode theme background (</a:t>
            </a:r>
            <a:r>
              <a:rPr>
                <a:latin typeface="Courier"/>
              </a:rPr>
              <a:t>#050811</a:t>
            </a:r>
            <a:r>
              <a:rPr/>
              <a:t>) with neon cyan accents.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Introduction &amp; Background</a:t>
            </a:r>
          </a:p>
          <a:p>
            <a:pPr lvl="0"/>
            <a:r>
              <a:rPr b="1"/>
              <a:t>Slide Title:</a:t>
            </a:r>
            <a:r>
              <a:rPr/>
              <a:t> The Rise of Web Agents &amp; LLM Integration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The LLM Evolution:</a:t>
            </a:r>
            <a:r>
              <a:rPr/>
              <a:t> Autonomous agents are transitioning from conversational chatbots into active executors (e.g., browsing the web, summarizing pages, booking travel via AutoGPT, MultiON).</a:t>
            </a:r>
          </a:p>
          <a:p>
            <a:pPr lvl="1"/>
            <a:r>
              <a:rPr b="1"/>
              <a:t>The Ingestion Boundary:</a:t>
            </a:r>
            <a:r>
              <a:rPr/>
              <a:t> Web agents read raw HTML documents, scrape text elements, and feed the combined content directly into the LLM context window.</a:t>
            </a:r>
          </a:p>
          <a:p>
            <a:pPr lvl="1"/>
            <a:r>
              <a:rPr b="1"/>
              <a:t>The Vulnerability:</a:t>
            </a:r>
            <a:r>
              <a:rPr/>
              <a:t> This automated ingestion boundary lacks traditional Web Application Firewall (WAF) sanitization, leaving LLMs exposed to malicious, untrusted external inputs.</a:t>
            </a:r>
          </a:p>
          <a:p>
            <a:pPr lvl="0"/>
            <a:r>
              <a:rPr b="1"/>
              <a:t>Why It Matters:</a:t>
            </a:r>
            <a:r>
              <a:rPr/>
              <a:t> Unchecked web page ingestion allows threat actors to compromise LLM decisions, leading to unauthorized actions, data theft, and automated fraud.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The Cybersecurity Challenge: Indirect Prompt Injections (IPI)</a:t>
            </a:r>
          </a:p>
          <a:p>
            <a:pPr lvl="0"/>
            <a:r>
              <a:rPr b="1"/>
              <a:t>Slide Title:</a:t>
            </a:r>
            <a:r>
              <a:rPr/>
              <a:t> Threat Model: Indirect Prompt Injections (IPI)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The Threat Vector:</a:t>
            </a:r>
            <a:r>
              <a:rPr/>
              <a:t> Attackers inject stealthy commands into normal web pages. When the LLM parses the page, the injected instructions override the user’s original task.</a:t>
            </a:r>
          </a:p>
          <a:p>
            <a:pPr lvl="1"/>
            <a:r>
              <a:rPr b="1"/>
              <a:t>Actionable Impact:</a:t>
            </a:r>
          </a:p>
          <a:p>
            <a:pPr lvl="2"/>
            <a:r>
              <a:rPr i="1"/>
              <a:t>Social Engineering:</a:t>
            </a:r>
            <a:r>
              <a:rPr/>
              <a:t> Forcing the LLM to write deceptive phishing emails to the user.</a:t>
            </a:r>
          </a:p>
          <a:p>
            <a:pPr lvl="2"/>
            <a:r>
              <a:rPr i="1"/>
              <a:t>System Abuse:</a:t>
            </a:r>
            <a:r>
              <a:rPr/>
              <a:t> Bypassing safety guardrails to execute restricted system actions.</a:t>
            </a:r>
          </a:p>
          <a:p>
            <a:pPr lvl="2"/>
            <a:r>
              <a:rPr i="1"/>
              <a:t>Data Exfiltration:</a:t>
            </a:r>
            <a:r>
              <a:rPr/>
              <a:t> Stealthily sending the user’s private data or session cookies to an external server via image rendering or API calls.</a:t>
            </a:r>
          </a:p>
          <a:p>
            <a:pPr lvl="0"/>
            <a:r>
              <a:rPr b="1"/>
              <a:t>The Stealth Requirement:</a:t>
            </a:r>
            <a:r>
              <a:rPr/>
              <a:t> To bypass human eyes, the injection </a:t>
            </a:r>
            <a:r>
              <a:rPr i="1"/>
              <a:t>must</a:t>
            </a:r>
            <a:r>
              <a:rPr/>
              <a:t> be hidden visually (e.g., using CSS or HTML tags), yet remain fully visible to the LLM scraper.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The Threat Ecosystem &amp; Attack Vector Diagram</a:t>
            </a:r>
          </a:p>
          <a:p>
            <a:pPr lvl="0"/>
            <a:r>
              <a:rPr b="1"/>
              <a:t>Slide Title:</a:t>
            </a:r>
            <a:r>
              <a:rPr/>
              <a:t> The Web Agent Ecosystem &amp; Attack Flow</a:t>
            </a:r>
          </a:p>
          <a:p>
            <a:pPr lvl="0"/>
            <a:r>
              <a:rPr b="1"/>
              <a:t>Visual Asset:</a:t>
            </a:r>
            <a:r>
              <a:rPr/>
              <a:t> Embed </a:t>
            </a:r>
            <a:r>
              <a:rPr>
                <a:latin typeface="Courier"/>
              </a:rPr>
              <a:t>figures/he Vulnerable LLM Ecosystem (Attack Vect-2026-05-24-140706.png</a:t>
            </a:r>
            <a:r>
              <a:rPr/>
              <a:t> (high-contrast system map).</a:t>
            </a:r>
          </a:p>
          <a:p>
            <a:pPr lvl="0"/>
            <a:r>
              <a:rPr b="1"/>
              <a:t>Diagram Components:</a:t>
            </a:r>
          </a:p>
          <a:p>
            <a:pPr lvl="1"/>
            <a:r>
              <a:rPr b="1"/>
              <a:t>User Node:</a:t>
            </a:r>
            <a:r>
              <a:rPr/>
              <a:t> Submits normal task (e.g., “Summarize this page”).</a:t>
            </a:r>
          </a:p>
          <a:p>
            <a:pPr lvl="1"/>
            <a:r>
              <a:rPr b="1"/>
              <a:t>Web Scraper Proxy:</a:t>
            </a:r>
            <a:r>
              <a:rPr/>
              <a:t> Fetches target URL from the web.</a:t>
            </a:r>
          </a:p>
          <a:p>
            <a:pPr lvl="1"/>
            <a:r>
              <a:rPr b="1"/>
              <a:t>Attacker Node:</a:t>
            </a:r>
            <a:r>
              <a:rPr/>
              <a:t> Deploys stealth HTML containing IPI payload on the target web page.</a:t>
            </a:r>
          </a:p>
          <a:p>
            <a:pPr lvl="1"/>
            <a:r>
              <a:rPr b="1"/>
              <a:t>LLM Processing:</a:t>
            </a:r>
            <a:r>
              <a:rPr/>
              <a:t> Ingests the merged hidden payload + benign visible text.</a:t>
            </a:r>
          </a:p>
          <a:p>
            <a:pPr lvl="1"/>
            <a:r>
              <a:rPr b="1"/>
              <a:t>Hijacked Execution:</a:t>
            </a:r>
            <a:r>
              <a:rPr/>
              <a:t> The agent executes the malicious payload (exfiltrates data) instead of the user’s summary.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The Flaw in Current Defenses: “Shift-Right” &amp; “Readability” Traps</a:t>
            </a:r>
          </a:p>
          <a:p>
            <a:pPr lvl="0"/>
            <a:r>
              <a:rPr b="1"/>
              <a:t>Slide Title:</a:t>
            </a:r>
            <a:r>
              <a:rPr/>
              <a:t> The “Shift-Right” Fallacy &amp; The “Readability” Trap</a:t>
            </a:r>
          </a:p>
          <a:p>
            <a:pPr lvl="0"/>
            <a:r>
              <a:rPr b="1"/>
              <a:t>Visual Asset:</a:t>
            </a:r>
            <a:r>
              <a:rPr/>
              <a:t> Embed </a:t>
            </a:r>
            <a:r>
              <a:rPr>
                <a:latin typeface="Courier"/>
              </a:rPr>
              <a:t>figures/Shift-Right vs. Shift-Left Defensive Par-2026-05-24-140659.png</a:t>
            </a:r>
            <a:r>
              <a:rPr/>
              <a:t> (comparison diagram).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What is “Shift-Right”?</a:t>
            </a:r>
            <a:r>
              <a:rPr/>
              <a:t> Defending inside the LLM (e.g., output filters, prompt guardrails). </a:t>
            </a:r>
            <a:r>
              <a:rPr i="1"/>
              <a:t>Flaw:</a:t>
            </a:r>
            <a:r>
              <a:rPr/>
              <a:t> The injection has already executed and hijacked the context window.</a:t>
            </a:r>
          </a:p>
          <a:p>
            <a:pPr lvl="1"/>
            <a:r>
              <a:rPr b="1"/>
              <a:t>The “Readability” Trap (Why Big Tech Fails):</a:t>
            </a:r>
          </a:p>
          <a:p>
            <a:pPr lvl="2"/>
            <a:r>
              <a:rPr/>
              <a:t>To clean text, modern scrapers (OpenAI, Google) use “Readability” parsers that strip all HTML, CSS, and JS, keeping only plain text.</a:t>
            </a:r>
          </a:p>
          <a:p>
            <a:pPr lvl="2"/>
            <a:r>
              <a:rPr i="1"/>
              <a:t>The Trap:</a:t>
            </a:r>
            <a:r>
              <a:rPr/>
              <a:t> Stripping HTML </a:t>
            </a:r>
            <a:r>
              <a:rPr b="1"/>
              <a:t>destroys the evidence</a:t>
            </a:r>
            <a:r>
              <a:rPr/>
              <a:t> of the attack. If an attacker hides text with </a:t>
            </a:r>
            <a:r>
              <a:rPr>
                <a:latin typeface="Courier"/>
              </a:rPr>
              <a:t>&lt;div style="display:none"&gt;</a:t>
            </a:r>
            <a:r>
              <a:rPr/>
              <a:t>, readability parsers strip the tag but keep the malicious text, perfectly blending it into normal content.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6: Our Solution: “Shift-Left” Structural DOM WAF</a:t>
            </a:r>
          </a:p>
          <a:p>
            <a:pPr lvl="0"/>
            <a:r>
              <a:rPr b="1"/>
              <a:t>Slide Title:</a:t>
            </a:r>
            <a:r>
              <a:rPr/>
              <a:t> The “Shift-Left” Defense: Static DOM Analysis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Core Hypothesis:</a:t>
            </a:r>
            <a:r>
              <a:rPr/>
              <a:t> Attackers are mathematically forced to use visual hiding techniques (CSS display:none, HTML comments, offscreen rendering) to remain stealthy. These visual tricks leave an </a:t>
            </a:r>
            <a:r>
              <a:rPr b="1"/>
              <a:t>unavoidable structural footprint</a:t>
            </a:r>
            <a:r>
              <a:rPr/>
              <a:t> in the DOM tree.</a:t>
            </a:r>
          </a:p>
          <a:p>
            <a:pPr lvl="1"/>
            <a:r>
              <a:rPr b="1"/>
              <a:t>The “Shift-Left” Boundary:</a:t>
            </a:r>
            <a:r>
              <a:rPr/>
              <a:t> Intercept raw HTML at the scraper proxy </a:t>
            </a:r>
            <a:r>
              <a:rPr i="1"/>
              <a:t>before</a:t>
            </a:r>
            <a:r>
              <a:rPr/>
              <a:t> readability stripping occurs.</a:t>
            </a:r>
          </a:p>
          <a:p>
            <a:pPr lvl="1"/>
            <a:r>
              <a:rPr b="1"/>
              <a:t>The Defensive Shield:</a:t>
            </a:r>
            <a:r>
              <a:rPr/>
              <a:t> Run lightweight machine learning classifiers on DOM structural features to block or sanitize the page in under 10 milliseconds, preventing the threat from ever reaching the LLM.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7: Related Work, Gaps, &amp; Structured Taxonomy</a:t>
            </a:r>
          </a:p>
          <a:p>
            <a:pPr lvl="0"/>
            <a:r>
              <a:rPr b="1"/>
              <a:t>Slide Title:</a:t>
            </a:r>
            <a:r>
              <a:rPr/>
              <a:t> Related Work: Gaps &amp; Structured Defense Taxonomy</a:t>
            </a:r>
          </a:p>
          <a:p>
            <a:pPr lvl="0"/>
            <a:r>
              <a:rPr b="1"/>
              <a:t>Related Work Analysis:</a:t>
            </a:r>
          </a:p>
          <a:p>
            <a:pPr lvl="1"/>
            <a:r>
              <a:rPr i="1"/>
              <a:t>Meta Prompt-Guard (NLP Classifier):</a:t>
            </a:r>
            <a:r>
              <a:rPr/>
              <a:t> Analyzes flat text. </a:t>
            </a:r>
            <a:r>
              <a:rPr b="1"/>
              <a:t>Gap:</a:t>
            </a:r>
            <a:r>
              <a:rPr/>
              <a:t> Completely blind to CSS layout tricks and comment smuggling.</a:t>
            </a:r>
          </a:p>
          <a:p>
            <a:pPr lvl="1"/>
            <a:r>
              <a:rPr i="1"/>
              <a:t>StruQ (LLaMA2 Fine-Tuning):</a:t>
            </a:r>
            <a:r>
              <a:rPr/>
              <a:t> Model-level hardening. </a:t>
            </a:r>
            <a:r>
              <a:rPr b="1"/>
              <a:t>Gap:</a:t>
            </a:r>
            <a:r>
              <a:rPr/>
              <a:t> High resource overhead, locked to a single model.</a:t>
            </a:r>
          </a:p>
          <a:p>
            <a:pPr lvl="1"/>
            <a:r>
              <a:rPr i="1"/>
              <a:t>Rennervate (NDSS Symposium 2026):</a:t>
            </a:r>
            <a:r>
              <a:rPr/>
              <a:t> LLM inference-time attention weight tracking. </a:t>
            </a:r>
            <a:r>
              <a:rPr b="1"/>
              <a:t>Gap:</a:t>
            </a:r>
            <a:r>
              <a:rPr/>
              <a:t> Incompatible with closed-source APIs (GPT-4o, Claude) and adds massive GPU latency.</a:t>
            </a:r>
          </a:p>
          <a:p>
            <a:pPr lvl="0"/>
            <a:r>
              <a:rPr b="1"/>
              <a:t>Defensive Taxonomy Matrix:</a:t>
            </a:r>
          </a:p>
          <a:p>
            <a:pPr lvl="1"/>
            <a:r>
              <a:rPr i="1"/>
              <a:t>Deployment Axis:</a:t>
            </a:r>
            <a:r>
              <a:rPr/>
              <a:t> Ingestion-Boundary (DOM-Level WAF) vs. Inference-Boundary (LLM Attention).</a:t>
            </a:r>
          </a:p>
          <a:p>
            <a:pPr lvl="1"/>
            <a:r>
              <a:rPr i="1"/>
              <a:t>Model Axis:</a:t>
            </a:r>
            <a:r>
              <a:rPr/>
              <a:t> API-Agnostic vs. White-Box Dependent.</a:t>
            </a:r>
          </a:p>
          <a:p>
            <a:pPr lvl="1"/>
            <a:r>
              <a:rPr i="1"/>
              <a:t>Our Standing:</a:t>
            </a:r>
            <a:r>
              <a:rPr/>
              <a:t> Sits at </a:t>
            </a:r>
            <a:r>
              <a:rPr b="1"/>
              <a:t>Ingestion-Boundary + 100% API-Agnostic</a:t>
            </a:r>
            <a:r>
              <a:rPr/>
              <a:t>, delivering maximum compatibility with zero GPU overhead.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8: Core Research Questions</a:t>
            </a:r>
          </a:p>
          <a:p>
            <a:pPr lvl="0"/>
            <a:r>
              <a:rPr b="1"/>
              <a:t>Slide Title:</a:t>
            </a:r>
            <a:r>
              <a:rPr/>
              <a:t> Core Research Questions (RQs)</a:t>
            </a:r>
          </a:p>
          <a:p>
            <a:pPr lvl="0"/>
            <a:r>
              <a:rPr b="1"/>
              <a:t>Research Focus:</a:t>
            </a:r>
          </a:p>
          <a:p>
            <a:pPr lvl="1"/>
            <a:r>
              <a:rPr b="1"/>
              <a:t>RQ1 (Feasibility):</a:t>
            </a:r>
            <a:r>
              <a:rPr/>
              <a:t> Can engineered DOM structural anomalies and CSS styling vectors reliably predict indirect prompt injections in real-world HTML documents?</a:t>
            </a:r>
          </a:p>
          <a:p>
            <a:pPr lvl="1"/>
            <a:r>
              <a:rPr b="1"/>
              <a:t>RQ2 (Generalization):</a:t>
            </a:r>
            <a:r>
              <a:rPr/>
              <a:t> How well does a static machine learning classifier generalize to completely unseen, out-of-distribution (OOD) stealth injection techniques?</a:t>
            </a:r>
          </a:p>
          <a:p>
            <a:pPr lvl="1"/>
            <a:r>
              <a:rPr b="1"/>
              <a:t>RQ3 (Operational Viability):</a:t>
            </a:r>
            <a:r>
              <a:rPr/>
              <a:t> What is the trade-off (False Positive Rate) when deploying a structural WAF on highly complex dynamic Dynamic/Single-Page Applications (SPAs)?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9: Data Collection: Real-World Sourcing</a:t>
            </a:r>
          </a:p>
          <a:p>
            <a:pPr lvl="0"/>
            <a:r>
              <a:rPr b="1"/>
              <a:t>Slide Title:</a:t>
            </a:r>
            <a:r>
              <a:rPr/>
              <a:t> Data Collection: Sourcing Real-World Web Pages</a:t>
            </a:r>
          </a:p>
          <a:p>
            <a:pPr lvl="0"/>
            <a:r>
              <a:rPr b="1"/>
              <a:t>Real Data Focus:</a:t>
            </a:r>
            <a:r>
              <a:rPr/>
              <a:t> Explicitly state that our dataset uses </a:t>
            </a:r>
            <a:r>
              <a:rPr b="1"/>
              <a:t>100% real web pages</a:t>
            </a:r>
            <a:r>
              <a:rPr/>
              <a:t>, avoiding toy or synthetic HTML.</a:t>
            </a:r>
          </a:p>
          <a:p>
            <a:pPr lvl="0"/>
            <a:r>
              <a:rPr b="1"/>
              <a:t>The Source:</a:t>
            </a:r>
            <a:r>
              <a:rPr/>
              <a:t> 3,000 real-world web pages crawled from the </a:t>
            </a:r>
            <a:r>
              <a:rPr b="1"/>
              <a:t>C4/Common Crawl</a:t>
            </a:r>
            <a:r>
              <a:rPr/>
              <a:t> dataset.</a:t>
            </a:r>
          </a:p>
          <a:p>
            <a:pPr lvl="0"/>
            <a:r>
              <a:rPr b="1"/>
              <a:t>Structural Profile:</a:t>
            </a:r>
          </a:p>
          <a:p>
            <a:pPr lvl="1"/>
            <a:r>
              <a:rPr/>
              <a:t>Reflects realistic complexity: pages contain an average of 50-700+ </a:t>
            </a:r>
            <a:r>
              <a:rPr>
                <a:latin typeface="Courier"/>
              </a:rPr>
              <a:t>div</a:t>
            </a:r>
            <a:r>
              <a:rPr/>
              <a:t> tags, dynamic styles, complex navigational structures, and typical hidden elements.</a:t>
            </a:r>
          </a:p>
          <a:p>
            <a:pPr lvl="0"/>
            <a:r>
              <a:rPr b="1"/>
              <a:t>Injectors:</a:t>
            </a:r>
            <a:r>
              <a:rPr/>
              <a:t> 750 pages were cloned and injected with adversarial payloads using our automated injector, yielding a balanced evaluation set (3,750 total samples, 80% Benign, 20% Malicious).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10: Sensed Threats: Payloads &amp; Stealth Vectors</a:t>
            </a:r>
          </a:p>
          <a:p>
            <a:pPr lvl="0"/>
            <a:r>
              <a:rPr b="1"/>
              <a:t>Slide Title:</a:t>
            </a:r>
            <a:r>
              <a:rPr/>
              <a:t> Defining the Threat: Payloads &amp; Obfuscation Techniques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10 Academic Payload Categories:</a:t>
            </a:r>
            <a:r>
              <a:rPr/>
              <a:t> We mapped real-world threat objectives, including Direct Overrides, Roleplay/jailbreaks (DAN), Context Injections, System Hijacking, and Exfiltration.</a:t>
            </a:r>
          </a:p>
          <a:p>
            <a:pPr lvl="1"/>
            <a:r>
              <a:rPr b="1"/>
              <a:t>14 Sensed Stealth Techniques:</a:t>
            </a:r>
            <a:r>
              <a:rPr/>
              <a:t> The injector applied realistic web obfuscation vectors:</a:t>
            </a:r>
          </a:p>
          <a:p>
            <a:pPr lvl="2"/>
            <a:r>
              <a:rPr i="1"/>
              <a:t>CSS Hiding:</a:t>
            </a:r>
            <a:r>
              <a:rPr/>
              <a:t> </a:t>
            </a:r>
            <a:r>
              <a:rPr>
                <a:latin typeface="Courier"/>
              </a:rPr>
              <a:t>display:none</a:t>
            </a:r>
            <a:r>
              <a:rPr/>
              <a:t>, </a:t>
            </a:r>
            <a:r>
              <a:rPr>
                <a:latin typeface="Courier"/>
              </a:rPr>
              <a:t>visibility:hidden</a:t>
            </a:r>
            <a:r>
              <a:rPr/>
              <a:t>, </a:t>
            </a:r>
            <a:r>
              <a:rPr>
                <a:latin typeface="Courier"/>
              </a:rPr>
              <a:t>opacity:0</a:t>
            </a:r>
            <a:r>
              <a:rPr/>
              <a:t>, zero-font size, offscreen coordinates (</a:t>
            </a:r>
            <a:r>
              <a:rPr>
                <a:latin typeface="Courier"/>
              </a:rPr>
              <a:t>position:absolute; left:-9999px</a:t>
            </a:r>
            <a:r>
              <a:rPr/>
              <a:t>).</a:t>
            </a:r>
          </a:p>
          <a:p>
            <a:pPr lvl="2"/>
            <a:r>
              <a:rPr i="1"/>
              <a:t>HTML Smuggling:</a:t>
            </a:r>
            <a:r>
              <a:rPr/>
              <a:t> Comments (</a:t>
            </a:r>
            <a:r>
              <a:rPr>
                <a:latin typeface="Courier"/>
              </a:rPr>
              <a:t>&lt;!-- --&gt;</a:t>
            </a:r>
            <a:r>
              <a:rPr/>
              <a:t>), </a:t>
            </a:r>
            <a:r>
              <a:rPr>
                <a:latin typeface="Courier"/>
              </a:rPr>
              <a:t>&lt;input type="hidden"&gt;</a:t>
            </a:r>
            <a:r>
              <a:rPr/>
              <a:t>, </a:t>
            </a:r>
            <a:r>
              <a:rPr>
                <a:latin typeface="Courier"/>
              </a:rPr>
              <a:t>&lt;noscript&gt;</a:t>
            </a:r>
            <a:r>
              <a:rPr/>
              <a:t> tag wrapping, plain-text script tags (</a:t>
            </a:r>
            <a:r>
              <a:rPr>
                <a:latin typeface="Courier"/>
              </a:rPr>
              <a:t>&lt;script type="text/plain"&gt;</a:t>
            </a:r>
            <a:r>
              <a:rPr/>
              <a:t>), SVG inline onload event triggers, and Data-URI images.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11: The Pre-Feature Extraction Data Pipeline</a:t>
            </a:r>
          </a:p>
          <a:p>
            <a:pPr lvl="0"/>
            <a:r>
              <a:rPr b="1"/>
              <a:t>Slide Title:</a:t>
            </a:r>
            <a:r>
              <a:rPr/>
              <a:t> Data Pipeline: Visible vs. Hidden DOM Bifurcation</a:t>
            </a:r>
          </a:p>
          <a:p>
            <a:pPr lvl="0"/>
            <a:r>
              <a:rPr b="1"/>
              <a:t>Pipeline Architecture:</a:t>
            </a:r>
          </a:p>
          <a:p>
            <a:pPr lvl="1" indent="-342900" marL="685800">
              <a:buAutoNum type="arabicPeriod"/>
            </a:pPr>
            <a:r>
              <a:rPr b="1"/>
              <a:t>Sensing (Ingestion):</a:t>
            </a:r>
            <a:r>
              <a:rPr/>
              <a:t> Headless HTTP proxy captures raw HTML stream from the web scraper.</a:t>
            </a:r>
          </a:p>
          <a:p>
            <a:pPr lvl="1" indent="-342900" marL="685800">
              <a:buAutoNum type="arabicPeriod"/>
            </a:pPr>
            <a:r>
              <a:rPr b="1"/>
              <a:t>Segmentation:</a:t>
            </a:r>
            <a:r>
              <a:rPr/>
              <a:t> BeautifulSoup compiles the DOM tree and segments the document into two independent streams:</a:t>
            </a:r>
          </a:p>
          <a:p>
            <a:pPr lvl="2"/>
            <a:r>
              <a:rPr i="1"/>
              <a:t>Visible Stream:</a:t>
            </a:r>
            <a:r>
              <a:rPr/>
              <a:t> Content displayed directly to human users.</a:t>
            </a:r>
          </a:p>
          <a:p>
            <a:pPr lvl="2"/>
            <a:r>
              <a:rPr i="1"/>
              <a:t>Hidden Stream:</a:t>
            </a:r>
            <a:r>
              <a:rPr/>
              <a:t> Obfuscated content bypassed by humans but extracted by scrapers.</a:t>
            </a:r>
          </a:p>
          <a:p>
            <a:pPr lvl="1" indent="-342900" marL="685800">
              <a:buAutoNum type="arabicPeriod"/>
            </a:pPr>
            <a:r>
              <a:rPr b="1"/>
              <a:t>Data Preparation:</a:t>
            </a:r>
            <a:r>
              <a:rPr/>
              <a:t> Compiles internal </a:t>
            </a:r>
            <a:r>
              <a:rPr>
                <a:latin typeface="Courier"/>
              </a:rPr>
              <a:t>&lt;style&gt;</a:t>
            </a:r>
            <a:r>
              <a:rPr/>
              <a:t> rules, resolves CSS class selectors, strips comment boundaries, and extracts separate raw text streams for downstream analysis.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12: Feature Engineering: Lecture 1 Methodology</a:t>
            </a:r>
          </a:p>
          <a:p>
            <a:pPr lvl="0"/>
            <a:r>
              <a:rPr b="1"/>
              <a:t>Slide Title:</a:t>
            </a:r>
            <a:r>
              <a:rPr/>
              <a:t> Feature Engineering: Anomaly-Based Static DOM Extraction</a:t>
            </a:r>
          </a:p>
          <a:p>
            <a:pPr lvl="0"/>
            <a:r>
              <a:rPr b="1"/>
              <a:t>Methodology Reference (Lecture 1):</a:t>
            </a:r>
            <a:r>
              <a:rPr/>
              <a:t> We explicitly chose the </a:t>
            </a:r>
            <a:r>
              <a:rPr b="1"/>
              <a:t>Anomaly-Based Static Feature Extraction</a:t>
            </a:r>
            <a:r>
              <a:rPr/>
              <a:t> methodology.</a:t>
            </a:r>
          </a:p>
          <a:p>
            <a:pPr lvl="1"/>
            <a:r>
              <a:rPr i="1"/>
              <a:t>Why?</a:t>
            </a:r>
            <a:r>
              <a:rPr/>
              <a:t> Signature-based methods fail because threat payloads are highly mutable. Dynamic sandboxing (rendering dynamic JavaScript layouts) is computationally too expensive for real-time web scrapers.</a:t>
            </a:r>
          </a:p>
          <a:p>
            <a:pPr lvl="1"/>
            <a:r>
              <a:rPr i="1"/>
              <a:t>The Focus:</a:t>
            </a:r>
            <a:r>
              <a:rPr/>
              <a:t> We engineered </a:t>
            </a:r>
            <a:r>
              <a:rPr b="1"/>
              <a:t>10 DOM structural features</a:t>
            </a:r>
            <a:r>
              <a:rPr/>
              <a:t> to capture visual anomalies:</a:t>
            </a:r>
          </a:p>
          <a:p>
            <a:pPr lvl="2"/>
            <a:r>
              <a:rPr>
                <a:latin typeface="Courier"/>
              </a:rPr>
              <a:t>hidden_element_count</a:t>
            </a:r>
            <a:r>
              <a:rPr/>
              <a:t>, </a:t>
            </a:r>
            <a:r>
              <a:rPr>
                <a:latin typeface="Courier"/>
              </a:rPr>
              <a:t>css_trick_count</a:t>
            </a:r>
            <a:r>
              <a:rPr/>
              <a:t> (compiled from CSS styles and selectors).</a:t>
            </a:r>
          </a:p>
          <a:p>
            <a:pPr lvl="2"/>
            <a:r>
              <a:rPr>
                <a:latin typeface="Courier"/>
              </a:rPr>
              <a:t>hidden_to_visible_ratio</a:t>
            </a:r>
            <a:r>
              <a:rPr/>
              <a:t>, </a:t>
            </a:r>
            <a:r>
              <a:rPr>
                <a:latin typeface="Courier"/>
              </a:rPr>
              <a:t>hidden_text_length</a:t>
            </a:r>
            <a:r>
              <a:rPr/>
              <a:t>, </a:t>
            </a:r>
            <a:r>
              <a:rPr>
                <a:latin typeface="Courier"/>
              </a:rPr>
              <a:t>visible_text_length</a:t>
            </a:r>
            <a:r>
              <a:rPr/>
              <a:t>.</a:t>
            </a:r>
          </a:p>
          <a:p>
            <a:pPr lvl="2"/>
            <a:r>
              <a:rPr>
                <a:latin typeface="Courier"/>
              </a:rPr>
              <a:t>comment_count</a:t>
            </a:r>
            <a:r>
              <a:rPr/>
              <a:t>, </a:t>
            </a:r>
            <a:r>
              <a:rPr>
                <a:latin typeface="Courier"/>
              </a:rPr>
              <a:t>hidden_input_count</a:t>
            </a:r>
            <a:r>
              <a:rPr/>
              <a:t>, </a:t>
            </a:r>
            <a:r>
              <a:rPr>
                <a:latin typeface="Courier"/>
              </a:rPr>
              <a:t>script_count</a:t>
            </a:r>
            <a:r>
              <a:rPr/>
              <a:t>, </a:t>
            </a:r>
            <a:r>
              <a:rPr>
                <a:latin typeface="Courier"/>
              </a:rPr>
              <a:t>event_handler_count</a:t>
            </a:r>
            <a:r>
              <a:rPr/>
              <a:t>.</a:t>
            </a:r>
          </a:p>
          <a:p>
            <a:pPr lvl="2"/>
            <a:r>
              <a:rPr>
                <a:latin typeface="Courier"/>
              </a:rPr>
              <a:t>has_visible_text</a:t>
            </a:r>
            <a:r>
              <a:rPr/>
              <a:t> (binary indicator).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13: Semantic Feature Extraction (NLP &amp; LSA SVD)</a:t>
            </a:r>
          </a:p>
          <a:p>
            <a:pPr lvl="0"/>
            <a:r>
              <a:rPr b="1"/>
              <a:t>Slide Title:</a:t>
            </a:r>
            <a:r>
              <a:rPr/>
              <a:t> Semantic Vectorization: TF-IDF &amp; Latent Semantic Analysis</a:t>
            </a:r>
          </a:p>
          <a:p>
            <a:pPr lvl="0"/>
            <a:r>
              <a:rPr b="1"/>
              <a:t>Content:</a:t>
            </a:r>
          </a:p>
          <a:p>
            <a:pPr lvl="1"/>
            <a:r>
              <a:rPr b="1"/>
              <a:t>Goal:</a:t>
            </a:r>
            <a:r>
              <a:rPr/>
              <a:t> Capture the adversarial intent of the text inside the </a:t>
            </a:r>
            <a:r>
              <a:rPr i="1"/>
              <a:t>Hidden Stream</a:t>
            </a:r>
            <a:r>
              <a:rPr/>
              <a:t>.</a:t>
            </a:r>
          </a:p>
          <a:p>
            <a:pPr lvl="1"/>
            <a:r>
              <a:rPr b="1"/>
              <a:t>TF-IDF Vectorization:</a:t>
            </a:r>
            <a:r>
              <a:rPr/>
              <a:t> Extracts word and character bigrams on the hidden text, focusing on imperative commanding terms (e.g., </a:t>
            </a:r>
            <a:r>
              <a:rPr>
                <a:latin typeface="Courier"/>
              </a:rPr>
              <a:t>Ignore</a:t>
            </a:r>
            <a:r>
              <a:rPr/>
              <a:t>, </a:t>
            </a:r>
            <a:r>
              <a:rPr>
                <a:latin typeface="Courier"/>
              </a:rPr>
              <a:t>Override</a:t>
            </a:r>
            <a:r>
              <a:rPr/>
              <a:t>, </a:t>
            </a:r>
            <a:r>
              <a:rPr>
                <a:latin typeface="Courier"/>
              </a:rPr>
              <a:t>System</a:t>
            </a:r>
            <a:r>
              <a:rPr/>
              <a:t>).</a:t>
            </a:r>
          </a:p>
          <a:p>
            <a:pPr lvl="1"/>
            <a:r>
              <a:rPr b="1"/>
              <a:t>LSA SVD Compression:</a:t>
            </a:r>
            <a:r>
              <a:rPr/>
              <a:t> We apply </a:t>
            </a:r>
            <a:r>
              <a:rPr b="1"/>
              <a:t>Latent Semantic Analysis (Truncated SVD)</a:t>
            </a:r>
            <a:r>
              <a:rPr/>
              <a:t> to compress 5,000 sparse TF-IDF dimensions into </a:t>
            </a:r>
            <a:r>
              <a:rPr b="1"/>
              <a:t>50 dense semantic dimensions</a:t>
            </a:r>
            <a:r>
              <a:rPr/>
              <a:t>.</a:t>
            </a:r>
          </a:p>
          <a:p>
            <a:pPr lvl="1"/>
            <a:r>
              <a:rPr b="1"/>
              <a:t>Pipeline Integration:</a:t>
            </a:r>
            <a:r>
              <a:rPr/>
              <a:t> TF-IDF and SVD components are chained with the classifier inside a Scikit-Learn Pipeline and serialized into </a:t>
            </a:r>
            <a:r>
              <a:rPr>
                <a:latin typeface="Courier"/>
              </a:rPr>
              <a:t>models/semantic_pipeline.joblib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14: Data Challenges</a:t>
            </a:r>
          </a:p>
          <a:p>
            <a:pPr lvl="0"/>
            <a:r>
              <a:rPr b="1"/>
              <a:t>Slide Title:</a:t>
            </a:r>
            <a:r>
              <a:rPr/>
              <a:t> Data Challenges: Security Noise, Imbalance, &amp; Sparsity</a:t>
            </a:r>
          </a:p>
          <a:p>
            <a:pPr lvl="0"/>
            <a:r>
              <a:rPr b="1"/>
              <a:t>Key Engineering Gaps &amp; Solutions:</a:t>
            </a:r>
          </a:p>
          <a:p>
            <a:pPr lvl="1" indent="-342900" marL="685800">
              <a:buAutoNum type="arabicPeriod"/>
            </a:pPr>
            <a:r>
              <a:rPr b="1"/>
              <a:t>Extreme Class Imbalance:</a:t>
            </a:r>
            <a:r>
              <a:rPr/>
              <a:t> IPI attacks are naturally rare compared to benign traffic. We resolved this via </a:t>
            </a:r>
            <a:r>
              <a:rPr>
                <a:latin typeface="Courier"/>
              </a:rPr>
              <a:t>class_weight='balanced'</a:t>
            </a:r>
            <a:r>
              <a:rPr/>
              <a:t> in Random Forest and </a:t>
            </a:r>
            <a:r>
              <a:rPr>
                <a:latin typeface="Courier"/>
              </a:rPr>
              <a:t>scale_pos_weight</a:t>
            </a:r>
            <a:r>
              <a:rPr/>
              <a:t> tuning in XGBoost.</a:t>
            </a:r>
          </a:p>
          <a:p>
            <a:pPr lvl="1" indent="-342900" marL="685800">
              <a:buAutoNum type="arabicPeriod"/>
            </a:pPr>
            <a:r>
              <a:rPr b="1"/>
              <a:t>Semantic Sparsity:</a:t>
            </a:r>
            <a:r>
              <a:rPr/>
              <a:t> Normal web pages have little to no hidden text. This causes empty matrices during TF-IDF vectorization. We resolved this by filling empty LSA SVD output arrays with zero vectors.</a:t>
            </a:r>
          </a:p>
          <a:p>
            <a:pPr lvl="1" indent="-342900" marL="685800">
              <a:buAutoNum type="arabicPeriod"/>
            </a:pPr>
            <a:r>
              <a:rPr b="1"/>
              <a:t>Non-Stationary Stealth Vectors:</a:t>
            </a:r>
            <a:r>
              <a:rPr/>
              <a:t> Threat actors continuously develop new visual camouflage layouts, requiring robust evaluation against unseen, out-of-distribution techniques.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15: Experimental Design: Eliminating Train-Test Leakage</a:t>
            </a:r>
          </a:p>
          <a:p>
            <a:pPr lvl="0"/>
            <a:r>
              <a:rPr b="1"/>
              <a:t>Slide Title:</a:t>
            </a:r>
            <a:r>
              <a:rPr/>
              <a:t> Experimental Design: Zero-Leakage URL-Grouped Validation</a:t>
            </a:r>
          </a:p>
          <a:p>
            <a:pPr lvl="0"/>
            <a:r>
              <a:rPr b="1"/>
              <a:t>The Leakage Threat (Page-Level Overlap):</a:t>
            </a:r>
          </a:p>
          <a:p>
            <a:pPr lvl="1"/>
            <a:r>
              <a:rPr i="1"/>
              <a:t>Vulnerability:</a:t>
            </a:r>
            <a:r>
              <a:rPr/>
              <a:t> When benign pages are cloned to inject payloads, they share identical HTML structures. A standard random train/test split (80/20) lets the model memorize specific site templates, inflating performance artificially.</a:t>
            </a:r>
          </a:p>
          <a:p>
            <a:pPr lvl="0"/>
            <a:r>
              <a:rPr b="1"/>
              <a:t>The Leak-Free Resolution:</a:t>
            </a:r>
          </a:p>
          <a:p>
            <a:pPr lvl="1"/>
            <a:r>
              <a:rPr/>
              <a:t>We enforced a strict </a:t>
            </a:r>
            <a:r>
              <a:rPr b="1"/>
              <a:t>URL-grouped split</a:t>
            </a:r>
            <a:r>
              <a:rPr/>
              <a:t> (</a:t>
            </a:r>
            <a:r>
              <a:rPr>
                <a:latin typeface="Courier"/>
              </a:rPr>
              <a:t>GroupShuffleSplit</a:t>
            </a:r>
            <a:r>
              <a:rPr/>
              <a:t>).</a:t>
            </a:r>
          </a:p>
          <a:p>
            <a:pPr lvl="1"/>
            <a:r>
              <a:rPr/>
              <a:t>Base URLs are partitioned </a:t>
            </a:r>
            <a:r>
              <a:rPr i="1"/>
              <a:t>first</a:t>
            </a:r>
            <a:r>
              <a:rPr/>
              <a:t>, ensuring parent pages and their injected clones remain in the same split.</a:t>
            </a:r>
          </a:p>
          <a:p>
            <a:pPr lvl="1"/>
            <a:r>
              <a:rPr b="1"/>
              <a:t>0% URL or template overlap</a:t>
            </a:r>
            <a:r>
              <a:rPr/>
              <a:t> exists between Train and Test sets, forcing models to learn generalized obfuscation signals.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16: Data Distribution Statistical Analysis</a:t>
            </a:r>
          </a:p>
          <a:p>
            <a:pPr lvl="0"/>
            <a:r>
              <a:rPr b="1"/>
              <a:t>Slide Title:</a:t>
            </a:r>
            <a:r>
              <a:rPr/>
              <a:t> Statistical Analysis: Structural Bifurcation</a:t>
            </a:r>
          </a:p>
          <a:p>
            <a:pPr lvl="0"/>
            <a:r>
              <a:rPr b="1"/>
              <a:t>Visual Asset:</a:t>
            </a:r>
            <a:r>
              <a:rPr/>
              <a:t> Embed </a:t>
            </a:r>
            <a:r>
              <a:rPr>
                <a:latin typeface="Courier"/>
              </a:rPr>
              <a:t>figures/data_distribution_analysis.png</a:t>
            </a:r>
            <a:r>
              <a:rPr/>
              <a:t> (2x2 Violin distribution chart).</a:t>
            </a:r>
          </a:p>
          <a:p>
            <a:pPr lvl="0"/>
            <a:r>
              <a:rPr b="1"/>
              <a:t>Statistical Findings:</a:t>
            </a:r>
          </a:p>
          <a:p>
            <a:pPr lvl="1"/>
            <a:r>
              <a:rPr i="1"/>
              <a:t>Hidden Elements &amp; CSS Camouflage:</a:t>
            </a:r>
            <a:r>
              <a:rPr/>
              <a:t> Benign C4 pages cluster tightly around a zero baseline. Malicious pages display widespread distribution and distinct spikes.</a:t>
            </a:r>
          </a:p>
          <a:p>
            <a:pPr lvl="1"/>
            <a:r>
              <a:rPr i="1"/>
              <a:t>Hidden-to-Visible Text Ratio:</a:t>
            </a:r>
            <a:r>
              <a:rPr/>
              <a:t> Benign pages maintain a near-zero ratio, whereas malicious pages skew heavily upward (showing 10-100x more hidden text than visible text), illustrating the visual hiding footprint.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17: Machine Learning &amp; Modeling Progression</a:t>
            </a:r>
          </a:p>
          <a:p>
            <a:pPr lvl="0"/>
            <a:r>
              <a:rPr b="1"/>
              <a:t>Slide Title:</a:t>
            </a:r>
            <a:r>
              <a:rPr/>
              <a:t> Machine Learning Methods: Iterative Optimization</a:t>
            </a:r>
          </a:p>
          <a:p>
            <a:pPr lvl="0"/>
            <a:r>
              <a:rPr b="1"/>
              <a:t>Modeling Trials:</a:t>
            </a:r>
          </a:p>
          <a:p>
            <a:pPr lvl="1"/>
            <a:r>
              <a:rPr b="1"/>
              <a:t>Iteration 1: Baseline Trees (Clean Split)</a:t>
            </a:r>
          </a:p>
          <a:p>
            <a:pPr lvl="2"/>
            <a:r>
              <a:rPr i="1"/>
              <a:t>Random Forest:</a:t>
            </a:r>
            <a:r>
              <a:rPr/>
              <a:t> Acc 80.9%, </a:t>
            </a:r>
            <a:r>
              <a:rPr b="1"/>
              <a:t>Precision 100%</a:t>
            </a:r>
            <a:r>
              <a:rPr/>
              <a:t>, Recall 4.7%. (Perfect precision, misses nearly all attacks).</a:t>
            </a:r>
          </a:p>
          <a:p>
            <a:pPr lvl="2"/>
            <a:r>
              <a:rPr i="1"/>
              <a:t>XGBoost (Baseline):</a:t>
            </a:r>
            <a:r>
              <a:rPr/>
              <a:t> Acc 79.2%, Precision 46.5%, Recall 26.7%.</a:t>
            </a:r>
          </a:p>
          <a:p>
            <a:pPr lvl="1"/>
            <a:r>
              <a:rPr b="1"/>
              <a:t>Iteration 2: Linear Classifiers</a:t>
            </a:r>
          </a:p>
          <a:p>
            <a:pPr lvl="2"/>
            <a:r>
              <a:rPr i="1"/>
              <a:t>Logistic Regression (Scaled SVD):</a:t>
            </a:r>
            <a:r>
              <a:rPr/>
              <a:t> Acc 48.8%, Precision 20.9%, </a:t>
            </a:r>
            <a:r>
              <a:rPr b="1"/>
              <a:t>Recall 56.0%</a:t>
            </a:r>
            <a:r>
              <a:rPr/>
              <a:t> (Poor boundary fit).</a:t>
            </a:r>
          </a:p>
          <a:p>
            <a:pPr lvl="1"/>
            <a:r>
              <a:rPr b="1"/>
              <a:t>Iteration 3: Hyperparameter Tuning</a:t>
            </a:r>
          </a:p>
          <a:p>
            <a:pPr lvl="2"/>
            <a:r>
              <a:rPr i="1"/>
              <a:t>Tuned XGBoost:</a:t>
            </a:r>
            <a:r>
              <a:rPr/>
              <a:t> Randomized search over tree depth, learning rate, and class weighting (</a:t>
            </a:r>
            <a:r>
              <a:rPr>
                <a:latin typeface="Courier"/>
              </a:rPr>
              <a:t>scale_pos_weight = 4.0</a:t>
            </a:r>
            <a:r>
              <a:rPr/>
              <a:t>).</a:t>
            </a:r>
          </a:p>
          <a:p>
            <a:pPr lvl="2"/>
            <a:r>
              <a:rPr i="1"/>
              <a:t>Tuned Performance:</a:t>
            </a:r>
            <a:r>
              <a:rPr/>
              <a:t> Acc 56.9%, Precision 27.2%, </a:t>
            </a:r>
            <a:r>
              <a:rPr b="1"/>
              <a:t>Recall 68.7%</a:t>
            </a:r>
            <a:r>
              <a:rPr/>
              <a:t>, F1 38.9%. (Tripled baseline recall).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18: Model Evaluation (ROC Comparison)</a:t>
            </a:r>
          </a:p>
          <a:p>
            <a:pPr lvl="0"/>
            <a:r>
              <a:rPr b="1"/>
              <a:t>Slide Title:</a:t>
            </a:r>
            <a:r>
              <a:rPr/>
              <a:t> Model Comparison: Receiver Operating Characteristic (ROC)</a:t>
            </a:r>
          </a:p>
          <a:p>
            <a:pPr lvl="0"/>
            <a:r>
              <a:rPr b="1"/>
              <a:t>Visual Asset:</a:t>
            </a:r>
            <a:r>
              <a:rPr/>
              <a:t> Embed </a:t>
            </a:r>
            <a:r>
              <a:rPr>
                <a:latin typeface="Courier"/>
              </a:rPr>
              <a:t>figures/roc_curves.png</a:t>
            </a:r>
            <a:r>
              <a:rPr/>
              <a:t> (ROC Curves comparison).</a:t>
            </a:r>
          </a:p>
          <a:p>
            <a:pPr lvl="0"/>
            <a:r>
              <a:rPr b="1"/>
              <a:t>Evaluation Takeaways:</a:t>
            </a:r>
          </a:p>
          <a:p>
            <a:pPr lvl="1"/>
            <a:r>
              <a:rPr i="1"/>
              <a:t>Random Forest:</a:t>
            </a:r>
            <a:r>
              <a:rPr/>
              <a:t> Leads overall diagnostics with a peak </a:t>
            </a:r>
            <a:r>
              <a:rPr b="1"/>
              <a:t>ROC-AUC of 0.6772</a:t>
            </a:r>
            <a:r>
              <a:rPr/>
              <a:t>, followed by the Weighted Ensemble at </a:t>
            </a:r>
            <a:r>
              <a:rPr b="1"/>
              <a:t>0.6738</a:t>
            </a:r>
            <a:r>
              <a:rPr/>
              <a:t> and Tuned XGBoost at </a:t>
            </a:r>
            <a:r>
              <a:rPr b="1"/>
              <a:t>0.6531</a:t>
            </a:r>
            <a:r>
              <a:rPr/>
              <a:t>.</a:t>
            </a:r>
          </a:p>
          <a:p>
            <a:pPr lvl="1"/>
            <a:r>
              <a:rPr i="1"/>
              <a:t>Logistic Regression:</a:t>
            </a:r>
            <a:r>
              <a:rPr/>
              <a:t> Struggles at </a:t>
            </a:r>
            <a:r>
              <a:rPr b="1"/>
              <a:t>0.5172</a:t>
            </a:r>
            <a:r>
              <a:rPr/>
              <a:t> (near-random-guess performance), proving that prompt injection structural footprints are highly non-linear.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19: Validating the Hypothesis (Feature Importance)</a:t>
            </a:r>
          </a:p>
          <a:p>
            <a:pPr lvl="0"/>
            <a:r>
              <a:rPr b="1"/>
              <a:t>Slide Title:</a:t>
            </a:r>
            <a:r>
              <a:rPr/>
              <a:t> Hypothesis Verification: Top Feature Importance Standings</a:t>
            </a:r>
          </a:p>
          <a:p>
            <a:pPr lvl="0"/>
            <a:r>
              <a:rPr b="1"/>
              <a:t>Visual Asset:</a:t>
            </a:r>
            <a:r>
              <a:rPr/>
              <a:t> Embed </a:t>
            </a:r>
            <a:r>
              <a:rPr>
                <a:latin typeface="Courier"/>
              </a:rPr>
              <a:t>figures/feature_importance_heatmap.png</a:t>
            </a:r>
            <a:r>
              <a:rPr/>
              <a:t> (Feature Importance standings).</a:t>
            </a:r>
          </a:p>
          <a:p>
            <a:pPr lvl="0"/>
            <a:r>
              <a:rPr b="1"/>
              <a:t>Empirical Confirmation:</a:t>
            </a:r>
          </a:p>
          <a:p>
            <a:pPr lvl="1"/>
            <a:r>
              <a:rPr/>
              <a:t>Our “Shift-Left” hypothesis is validated: DOM structural anomaly indicators dominate classification weights.</a:t>
            </a:r>
          </a:p>
          <a:p>
            <a:pPr lvl="1"/>
            <a:r>
              <a:rPr/>
              <a:t>The top three predictors are structural: </a:t>
            </a:r>
            <a:r>
              <a:rPr>
                <a:latin typeface="Courier"/>
              </a:rPr>
              <a:t>hidden_element_count</a:t>
            </a:r>
            <a:r>
              <a:rPr/>
              <a:t> (RF weight: </a:t>
            </a:r>
            <a:r>
              <a:rPr b="1"/>
              <a:t>3.86%</a:t>
            </a:r>
            <a:r>
              <a:rPr/>
              <a:t>), </a:t>
            </a:r>
            <a:r>
              <a:rPr>
                <a:latin typeface="Courier"/>
              </a:rPr>
              <a:t>css_trick_count</a:t>
            </a:r>
            <a:r>
              <a:rPr/>
              <a:t> (RF weight: </a:t>
            </a:r>
            <a:r>
              <a:rPr b="1"/>
              <a:t>3.12%</a:t>
            </a:r>
            <a:r>
              <a:rPr/>
              <a:t>), and </a:t>
            </a:r>
            <a:r>
              <a:rPr>
                <a:latin typeface="Courier"/>
              </a:rPr>
              <a:t>hidden_text_length</a:t>
            </a:r>
            <a:r>
              <a:rPr/>
              <a:t> (RF weight: </a:t>
            </a:r>
            <a:r>
              <a:rPr b="1"/>
              <a:t>2.82%</a:t>
            </a:r>
            <a:r>
              <a:rPr/>
              <a:t>), which outperform individual semantic SVD text features.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20: Out-of-Distribution (OOD) &amp; Leave-One-Technique-Out (LOTO) Generalization</a:t>
            </a:r>
          </a:p>
          <a:p>
            <a:pPr lvl="0"/>
            <a:r>
              <a:rPr b="1"/>
              <a:t>Slide Title:</a:t>
            </a:r>
            <a:r>
              <a:rPr/>
              <a:t> Out-of-Distribution Generalization &amp; LOTO Evaluations</a:t>
            </a:r>
          </a:p>
          <a:p>
            <a:pPr lvl="0"/>
            <a:r>
              <a:rPr b="1"/>
              <a:t>LOTO Evaluation (Held-out in-distribution):</a:t>
            </a:r>
          </a:p>
          <a:p>
            <a:pPr lvl="1"/>
            <a:r>
              <a:rPr/>
              <a:t>Retrained Tuned XGBoost 14 times, holding out one stealth technique each time.</a:t>
            </a:r>
          </a:p>
          <a:p>
            <a:pPr lvl="1"/>
            <a:r>
              <a:rPr b="1"/>
              <a:t>Mean Recall on truly unseen techniques: 52.3%</a:t>
            </a:r>
          </a:p>
          <a:p>
            <a:pPr lvl="1"/>
            <a:r>
              <a:rPr i="1"/>
              <a:t>CSS Family (display:none, opacity:0):</a:t>
            </a:r>
            <a:r>
              <a:rPr/>
              <a:t> Catch rate ~90% (excellent cross-technique transfer).</a:t>
            </a:r>
          </a:p>
          <a:p>
            <a:pPr lvl="1"/>
            <a:r>
              <a:rPr i="1"/>
              <a:t>HTML comment smuggling:</a:t>
            </a:r>
            <a:r>
              <a:rPr/>
              <a:t> Catch rate 17%.</a:t>
            </a:r>
          </a:p>
          <a:p>
            <a:pPr lvl="0"/>
            <a:r>
              <a:rPr b="1"/>
              <a:t>Held-out OOD Set (8 brand new techniques never seen in training):</a:t>
            </a:r>
          </a:p>
          <a:p>
            <a:pPr lvl="1"/>
            <a:r>
              <a:rPr/>
              <a:t>Tested on pseudo-elements, aria-hidden, transform translations, template tags.</a:t>
            </a:r>
          </a:p>
          <a:p>
            <a:pPr lvl="1"/>
            <a:r>
              <a:rPr/>
              <a:t>Tuned XGBoost achieved </a:t>
            </a:r>
            <a:r>
              <a:rPr b="1"/>
              <a:t>55.3% recall</a:t>
            </a:r>
            <a:r>
              <a:rPr/>
              <a:t> on totally unseen OOD tricks.</a:t>
            </a:r>
          </a:p>
          <a:p>
            <a:pPr lvl="1"/>
            <a:r>
              <a:rPr/>
              <a:t>Class-based </a:t>
            </a:r>
            <a:r>
              <a:rPr>
                <a:latin typeface="Courier"/>
              </a:rPr>
              <a:t>&lt;style&gt;</a:t>
            </a:r>
            <a:r>
              <a:rPr/>
              <a:t> bypass (the v1 bypass) is caught at </a:t>
            </a:r>
            <a:r>
              <a:rPr b="1"/>
              <a:t>74% recall</a:t>
            </a:r>
            <a:r>
              <a:rPr/>
              <a:t> using our post-refactor </a:t>
            </a:r>
            <a:r>
              <a:rPr>
                <a:latin typeface="Courier"/>
              </a:rPr>
              <a:t>&lt;style&gt;</a:t>
            </a:r>
            <a:r>
              <a:rPr/>
              <a:t> parser.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21: Operational Performance: The Benign FPR Ceiling</a:t>
            </a:r>
          </a:p>
          <a:p>
            <a:pPr lvl="0"/>
            <a:r>
              <a:rPr b="1"/>
              <a:t>Slide Title:</a:t>
            </a:r>
            <a:r>
              <a:rPr/>
              <a:t> Operational Performance: The Natural-Benign FPR Ceiling</a:t>
            </a:r>
          </a:p>
          <a:p>
            <a:pPr lvl="0"/>
            <a:r>
              <a:rPr b="1"/>
              <a:t>Evaluation on Realistic Dynamic Pages (10 Complex Benign Web Apps):</a:t>
            </a:r>
          </a:p>
          <a:p>
            <a:pPr lvl="1"/>
            <a:r>
              <a:rPr i="1"/>
              <a:t>Random Forest:</a:t>
            </a:r>
            <a:r>
              <a:rPr/>
              <a:t> </a:t>
            </a:r>
            <a:r>
              <a:rPr b="1"/>
              <a:t>0% False Positive Rate</a:t>
            </a:r>
            <a:r>
              <a:rPr/>
              <a:t> (Highly robust).</a:t>
            </a:r>
          </a:p>
          <a:p>
            <a:pPr lvl="1"/>
            <a:r>
              <a:rPr i="1"/>
              <a:t>Tuned XGBoost:</a:t>
            </a:r>
            <a:r>
              <a:rPr/>
              <a:t> </a:t>
            </a:r>
            <a:r>
              <a:rPr b="1"/>
              <a:t>60% False Positive Rate</a:t>
            </a:r>
            <a:r>
              <a:rPr/>
              <a:t> (Flagged complex benign dynamic pages containing Bootstrap modals, lazy-loaded galleries, and ARIA layers).</a:t>
            </a:r>
          </a:p>
          <a:p>
            <a:pPr lvl="0"/>
            <a:r>
              <a:rPr b="1"/>
              <a:t>The Operational Choice:</a:t>
            </a:r>
          </a:p>
          <a:p>
            <a:pPr lvl="1"/>
            <a:r>
              <a:rPr/>
              <a:t>For security firewalls, we need to balance recall with overhead.</a:t>
            </a:r>
          </a:p>
          <a:p>
            <a:pPr lvl="1"/>
            <a:r>
              <a:rPr b="1"/>
              <a:t>Weighted Soft-Vote Ensembles</a:t>
            </a:r>
            <a:r>
              <a:rPr/>
              <a:t> dilute performance, dropping Recall to </a:t>
            </a:r>
            <a:r>
              <a:rPr b="1"/>
              <a:t>8.00%</a:t>
            </a:r>
            <a:r>
              <a:rPr/>
              <a:t>.</a:t>
            </a:r>
          </a:p>
          <a:p>
            <a:pPr lvl="1"/>
            <a:r>
              <a:rPr b="1"/>
              <a:t>Hard-OR Ensemble</a:t>
            </a:r>
            <a:r>
              <a:rPr/>
              <a:t> (“if </a:t>
            </a:r>
            <a:r>
              <a:rPr i="1"/>
              <a:t>any</a:t>
            </a:r>
            <a:r>
              <a:rPr/>
              <a:t> model fires → alert”) maintains </a:t>
            </a:r>
            <a:r>
              <a:rPr b="1"/>
              <a:t>68.67% Recall</a:t>
            </a:r>
            <a:r>
              <a:rPr/>
              <a:t>, representing the most robust operational configuration.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22: Real-World Deployment Architecture</a:t>
            </a:r>
          </a:p>
          <a:p>
            <a:pPr lvl="0"/>
            <a:r>
              <a:rPr b="1"/>
              <a:t>Slide Title:</a:t>
            </a:r>
            <a:r>
              <a:rPr/>
              <a:t> Real-World WAF Architecture: Chained Ingestion Filters</a:t>
            </a:r>
          </a:p>
          <a:p>
            <a:pPr lvl="0"/>
            <a:r>
              <a:rPr b="1"/>
              <a:t>Deployment Postures:</a:t>
            </a:r>
          </a:p>
          <a:p>
            <a:pPr lvl="1" indent="-342900" marL="685800">
              <a:buAutoNum type="arabicPeriod"/>
            </a:pPr>
            <a:r>
              <a:rPr b="1"/>
              <a:t>Coarse First Net (Standalone):</a:t>
            </a:r>
            <a:r>
              <a:rPr/>
              <a:t> Deploy the Random Forest model directly on the scraper proxy server. Delivers </a:t>
            </a:r>
            <a:r>
              <a:rPr b="1"/>
              <a:t>0% FPR</a:t>
            </a:r>
            <a:r>
              <a:rPr/>
              <a:t> and provides a lightweight, zero-overhead first net.</a:t>
            </a:r>
          </a:p>
          <a:p>
            <a:pPr lvl="1" indent="-342900" marL="685800">
              <a:buAutoNum type="arabicPeriod"/>
            </a:pPr>
            <a:r>
              <a:rPr b="1"/>
              <a:t>Chained Hybrid Shield (Maximum Security):</a:t>
            </a:r>
          </a:p>
          <a:p>
            <a:pPr lvl="2"/>
            <a:r>
              <a:rPr/>
              <a:t>Deploy the Tuned XGBoost WAF as a first-stage pre-filtering net.</a:t>
            </a:r>
          </a:p>
          <a:p>
            <a:pPr lvl="2"/>
            <a:r>
              <a:rPr/>
              <a:t>Pages flagged by XGBoost are forwarded to a downstream, cost-effective LLM-side checker.</a:t>
            </a:r>
          </a:p>
          <a:p>
            <a:pPr lvl="2"/>
            <a:r>
              <a:rPr i="1"/>
              <a:t>Benefit:</a:t>
            </a:r>
            <a:r>
              <a:rPr/>
              <a:t> Combines high recall with high precision, keeping overall GPU token costs and latency low.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23: Limitations &amp; Future Research Directions</a:t>
            </a:r>
          </a:p>
          <a:p>
            <a:pPr lvl="0"/>
            <a:r>
              <a:rPr b="1"/>
              <a:t>Slide Title:</a:t>
            </a:r>
            <a:r>
              <a:rPr/>
              <a:t> Project Limitations &amp; Future Research</a:t>
            </a:r>
          </a:p>
          <a:p>
            <a:pPr lvl="0"/>
            <a:r>
              <a:rPr b="1"/>
              <a:t>Limitations:</a:t>
            </a:r>
          </a:p>
          <a:p>
            <a:pPr lvl="1"/>
            <a:r>
              <a:rPr i="1"/>
              <a:t>Static Limitations:</a:t>
            </a:r>
            <a:r>
              <a:rPr/>
              <a:t> Our static HTML parsing approach cannot analyze dynamically hydrated elements rendered via client-side JavaScript.</a:t>
            </a:r>
          </a:p>
          <a:p>
            <a:pPr lvl="1"/>
            <a:r>
              <a:rPr i="1"/>
              <a:t>Headless Overhead:</a:t>
            </a:r>
            <a:r>
              <a:rPr/>
              <a:t> Headless browser rendering captures dynamically styled elements but introduces significant execution overhead.</a:t>
            </a:r>
          </a:p>
          <a:p>
            <a:pPr lvl="0"/>
            <a:r>
              <a:rPr b="1"/>
              <a:t>Future Directions:</a:t>
            </a:r>
          </a:p>
          <a:p>
            <a:pPr lvl="1"/>
            <a:r>
              <a:rPr b="1"/>
              <a:t>Dynamic Headless Integration:</a:t>
            </a:r>
            <a:r>
              <a:rPr/>
              <a:t> Transition to headless browser tools (e.g., Playwright) to capture computed style layout states.</a:t>
            </a:r>
          </a:p>
          <a:p>
            <a:pPr lvl="1"/>
            <a:r>
              <a:rPr b="1"/>
              <a:t>Deep Learning NLP:</a:t>
            </a:r>
            <a:r>
              <a:rPr/>
              <a:t> Replace TF-IDF/SVD LSA with a pre-trained Transformer (e.g., MiniLM) to analyze hidden text semantics.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24: Conclusions &amp; Project Summary</a:t>
            </a:r>
          </a:p>
          <a:p>
            <a:pPr lvl="0"/>
            <a:r>
              <a:rPr b="1"/>
              <a:t>Slide Title:</a:t>
            </a:r>
            <a:r>
              <a:rPr/>
              <a:t> Summary: Shifting Left for LLM Security</a:t>
            </a:r>
          </a:p>
          <a:p>
            <a:pPr lvl="0"/>
            <a:r>
              <a:rPr b="1"/>
              <a:t>Takeaways:</a:t>
            </a:r>
          </a:p>
          <a:p>
            <a:pPr lvl="1" indent="-342900" marL="685800">
              <a:buAutoNum type="arabicPeriod"/>
            </a:pPr>
            <a:r>
              <a:rPr b="1"/>
              <a:t>Shift-Left works:</a:t>
            </a:r>
            <a:r>
              <a:rPr/>
              <a:t> Obfuscation techniques leave a structural DOM footprint that is highly predictive of attacks.</a:t>
            </a:r>
          </a:p>
          <a:p>
            <a:pPr lvl="1" indent="-342900" marL="685800">
              <a:buAutoNum type="arabicPeriod"/>
            </a:pPr>
            <a:r>
              <a:rPr b="1"/>
              <a:t>URL-Grouped Splits are critical:</a:t>
            </a:r>
            <a:r>
              <a:rPr/>
              <a:t> Eliminating data leakage reveals the true performance boundary.</a:t>
            </a:r>
          </a:p>
          <a:p>
            <a:pPr lvl="1" indent="-342900" marL="685800">
              <a:buAutoNum type="arabicPeriod"/>
            </a:pPr>
            <a:r>
              <a:rPr b="1"/>
              <a:t>Generalization is achievable:</a:t>
            </a:r>
            <a:r>
              <a:rPr/>
              <a:t> The model achieves 52% LOTO recall and 55% OOD recall on unseen techniques.</a:t>
            </a:r>
          </a:p>
          <a:p>
            <a:pPr lvl="1" indent="-342900" marL="685800">
              <a:buAutoNum type="arabicPeriod"/>
            </a:pPr>
            <a:r>
              <a:rPr b="1"/>
              <a:t>Operational Balance:</a:t>
            </a:r>
            <a:r>
              <a:rPr/>
              <a:t> Tuned XGBoost operates best as a chained pre-filter to prevent high false-alarm rates.</a:t>
            </a:r>
          </a:p>
          <a:p>
            <a:pPr lvl="1" indent="-342900" marL="685800">
              <a:buAutoNum type="arabicPeriod"/>
            </a:pPr>
            <a:r>
              <a:rPr b="1"/>
              <a:t>Deployment Ready:</a:t>
            </a:r>
            <a:r>
              <a:rPr/>
              <a:t> Chained TF-IDF + SVD + XGB pipeline is fully serialized and ready for integration.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25: Thank You! Questions &amp; Live Q&amp;A</a:t>
            </a:r>
          </a:p>
          <a:p>
            <a:pPr lvl="0"/>
            <a:r>
              <a:rPr b="1"/>
              <a:t>Slide Title:</a:t>
            </a:r>
            <a:r>
              <a:rPr/>
              <a:t> Thank You! Questions?</a:t>
            </a:r>
          </a:p>
          <a:p>
            <a:pPr lvl="0"/>
            <a:r>
              <a:rPr b="1"/>
              <a:t>Presenter:</a:t>
            </a:r>
            <a:r>
              <a:rPr/>
              <a:t> Nick Gaffni (nikitaa@post.bgu.ac.il)</a:t>
            </a:r>
          </a:p>
          <a:p>
            <a:pPr lvl="0"/>
            <a:r>
              <a:rPr b="1"/>
              <a:t>Course:</a:t>
            </a:r>
            <a:r>
              <a:rPr/>
              <a:t> Data Science for Cyber-Security 2026 (Group 3)</a:t>
            </a:r>
          </a:p>
          <a:p>
            <a:pPr lvl="0"/>
            <a:r>
              <a:rPr b="1"/>
              <a:t>Project Topic:</a:t>
            </a:r>
            <a:r>
              <a:rPr/>
              <a:t> Shifting Left: Structural Detection of Indirect Prompt Injections in Web Agents</a:t>
            </a:r>
          </a:p>
          <a:p>
            <a:pPr lvl="0"/>
            <a:r>
              <a:rPr b="1"/>
              <a:t>Visual Assets:</a:t>
            </a:r>
          </a:p>
          <a:p>
            <a:pPr lvl="1"/>
            <a:r>
              <a:rPr>
                <a:latin typeface="Courier"/>
              </a:rPr>
              <a:t>[Photo Placeholder: Presenter Profile Photo - Nick Gaffni]</a:t>
            </a:r>
          </a:p>
          <a:p>
            <a:pPr lvl="1"/>
            <a:r>
              <a:rPr/>
              <a:t>BGU Department of Software and Information Systems Engineering.</a:t>
            </a:r>
          </a:p>
          <a:p>
            <a:pPr lvl="1"/>
            <a:r>
              <a:rPr/>
              <a:t>“Thank you for listening. Ready for live Q&amp;A!”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2026-05-24T20:09:25Z</dcterms:created>
  <dcterms:modified xsi:type="dcterms:W3CDTF">2026-05-24T20:09:25Z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